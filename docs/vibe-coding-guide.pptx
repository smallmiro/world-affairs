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0" y="-914400"/>
            <a:ext cx="5486400" cy="5486400"/>
          </a:xfrm>
          <a:prstGeom prst="ellipse">
            <a:avLst/>
          </a:prstGeom>
          <a:solidFill>
            <a:srgbClr val="7AA2F7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2834640" y="731520"/>
            <a:ext cx="3474720" cy="411480"/>
          </a:xfrm>
          <a:prstGeom prst="rect">
            <a:avLst>
              <a:gd name="adj" fmla="val 44444"/>
            </a:avLst>
          </a:prstGeom>
          <a:solidFill>
            <a:srgbClr val="1A1B26"/>
          </a:solidFill>
          <a:ln w="19050">
            <a:solidFill>
              <a:srgbClr val="BB9A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834640" y="73152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BB9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14400" y="1463040"/>
            <a:ext cx="7315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비개발자가 AI 에이전트 팀으로</a:t>
            </a:r>
            <a:endParaRPr lang="en-US" sz="36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대시보드를 만든 ~6시간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20040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전문 에이전트 팀과의 실제 대화 기록 분석 기반 바이브 코딩 가이드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97280" y="393192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7AA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~6h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097280" y="44348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사람 실제 투입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017520" y="393192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BB9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017520" y="44348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마일스톤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937760" y="393192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EC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60+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937760" y="44348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이슈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858000" y="393192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9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8+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858000" y="44348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전문 에이전트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프로젝트 소개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DC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국제 정세 모니터링 대시보드 "SIGINT"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2560320" cy="1280160"/>
          </a:xfrm>
          <a:prstGeom prst="rect">
            <a:avLst/>
          </a:prstGeom>
          <a:solidFill>
            <a:srgbClr val="24283B"/>
          </a:solidFill>
          <a:ln/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554480"/>
            <a:ext cx="64008" cy="1280160"/>
          </a:xfrm>
          <a:prstGeom prst="rect">
            <a:avLst/>
          </a:prstGeom>
          <a:solidFill>
            <a:srgbClr val="7AA2F7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691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뉴스 수집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21031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GDELT, RSS, Playwright 스크래핑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474720" y="1554480"/>
            <a:ext cx="2560320" cy="1280160"/>
          </a:xfrm>
          <a:prstGeom prst="rect">
            <a:avLst/>
          </a:prstGeom>
          <a:solidFill>
            <a:srgbClr val="24283B"/>
          </a:solidFill>
          <a:ln/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474720" y="1554480"/>
            <a:ext cx="64008" cy="1280160"/>
          </a:xfrm>
          <a:prstGeom prst="rect">
            <a:avLst/>
          </a:prstGeom>
          <a:solidFill>
            <a:srgbClr val="9ECE6A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0" y="1691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금융 시장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657600" y="21031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주식, 원자재, 환율 실시간 모니터링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309360" y="1554480"/>
            <a:ext cx="2560320" cy="1280160"/>
          </a:xfrm>
          <a:prstGeom prst="rect">
            <a:avLst/>
          </a:prstGeom>
          <a:solidFill>
            <a:srgbClr val="24283B"/>
          </a:solidFill>
          <a:ln/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309360" y="1554480"/>
            <a:ext cx="64008" cy="1280160"/>
          </a:xfrm>
          <a:prstGeom prst="rect">
            <a:avLst/>
          </a:prstGeom>
          <a:solidFill>
            <a:srgbClr val="73DACA"/>
          </a:solidFill>
          <a:ln/>
        </p:spPr>
      </p:sp>
      <p:sp>
        <p:nvSpPr>
          <p:cNvPr id="14" name="Text 12"/>
          <p:cNvSpPr/>
          <p:nvPr/>
        </p:nvSpPr>
        <p:spPr>
          <a:xfrm>
            <a:off x="6492240" y="1691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선박 추적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92240" y="21031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 데이터 기반 중동 해역 모니터링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3108960"/>
            <a:ext cx="2560320" cy="1280160"/>
          </a:xfrm>
          <a:prstGeom prst="rect">
            <a:avLst/>
          </a:prstGeom>
          <a:solidFill>
            <a:srgbClr val="24283B"/>
          </a:solidFill>
          <a:ln/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" y="3108960"/>
            <a:ext cx="64008" cy="1280160"/>
          </a:xfrm>
          <a:prstGeom prst="rect">
            <a:avLst/>
          </a:prstGeom>
          <a:solidFill>
            <a:srgbClr val="FF9E64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32461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두바이 공항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22960" y="36576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항공기 위치, 운항 현황, 7일 타임라인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474720" y="3108960"/>
            <a:ext cx="2560320" cy="1280160"/>
          </a:xfrm>
          <a:prstGeom prst="rect">
            <a:avLst/>
          </a:prstGeom>
          <a:solidFill>
            <a:srgbClr val="24283B"/>
          </a:solidFill>
          <a:ln/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474720" y="3108960"/>
            <a:ext cx="64008" cy="1280160"/>
          </a:xfrm>
          <a:prstGeom prst="rect">
            <a:avLst/>
          </a:prstGeom>
          <a:solidFill>
            <a:srgbClr val="BB9AF7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0" y="32461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분석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657600" y="36576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API — 감성 분석, 요약, 브리핑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309360" y="3108960"/>
            <a:ext cx="2560320" cy="1280160"/>
          </a:xfrm>
          <a:prstGeom prst="rect">
            <a:avLst/>
          </a:prstGeom>
          <a:solidFill>
            <a:srgbClr val="24283B"/>
          </a:solidFill>
          <a:ln/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309360" y="3108960"/>
            <a:ext cx="64008" cy="1280160"/>
          </a:xfrm>
          <a:prstGeom prst="rect">
            <a:avLst/>
          </a:prstGeom>
          <a:solidFill>
            <a:srgbClr val="F7768E"/>
          </a:solidFill>
          <a:ln/>
        </p:spPr>
      </p:sp>
      <p:sp>
        <p:nvSpPr>
          <p:cNvPr id="26" name="Text 24"/>
          <p:cNvSpPr/>
          <p:nvPr/>
        </p:nvSpPr>
        <p:spPr>
          <a:xfrm>
            <a:off x="6492240" y="32461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다국어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492240" y="36576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한국어 / 영어 / 일본어 자동 번역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-1828800"/>
            <a:ext cx="7315200" cy="7315200"/>
          </a:xfrm>
          <a:prstGeom prst="ellipse">
            <a:avLst/>
          </a:prstGeom>
          <a:solidFill>
            <a:srgbClr val="BB9AF7">
              <a:alpha val="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7DC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메시지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7315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34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바이브 코딩에서</a:t>
            </a:r>
            <a:endParaRPr lang="en-US" sz="3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34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사람은 코드를 쓰지 않지만,</a:t>
            </a:r>
            <a:endParaRPr lang="en-US" sz="3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34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7가지 역할을 수행한다.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30175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9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전문 에이전트 팀을 구성하고 지휘하는 것이 핵심.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3657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대화 히스토리 4개 세션(~10,000 라인)에서 추출한 패턴입니다.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비개발자의 7가지 역할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005840"/>
            <a:ext cx="7863840" cy="457200"/>
          </a:xfrm>
          <a:prstGeom prst="rect">
            <a:avLst/>
          </a:prstGeom>
          <a:solidFill>
            <a:srgbClr val="24283B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005840"/>
            <a:ext cx="54864" cy="457200"/>
          </a:xfrm>
          <a:prstGeom prst="rect">
            <a:avLst/>
          </a:prstGeom>
          <a:solidFill>
            <a:srgbClr val="BB9AF7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069848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0058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기획자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3200400" y="10058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뭘 만들 건지 말하기 — 한 문장으로 시작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40080" y="1554480"/>
            <a:ext cx="7863840" cy="457200"/>
          </a:xfrm>
          <a:prstGeom prst="rect">
            <a:avLst/>
          </a:prstGeom>
          <a:solidFill>
            <a:srgbClr val="24283B"/>
          </a:solidFill>
          <a:ln/>
        </p:spPr>
      </p:sp>
      <p:sp>
        <p:nvSpPr>
          <p:cNvPr id="9" name="Shape 6"/>
          <p:cNvSpPr/>
          <p:nvPr/>
        </p:nvSpPr>
        <p:spPr>
          <a:xfrm>
            <a:off x="640080" y="1554480"/>
            <a:ext cx="54864" cy="457200"/>
          </a:xfrm>
          <a:prstGeom prst="rect">
            <a:avLst/>
          </a:prstGeom>
          <a:solidFill>
            <a:srgbClr val="7AA2F7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618488"/>
            <a:ext cx="320040" cy="3200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71600" y="15544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설계자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3200400" y="15544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CLAUDE.md로 AI 작업 규칙 정하기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40080" y="2103120"/>
            <a:ext cx="7863840" cy="457200"/>
          </a:xfrm>
          <a:prstGeom prst="rect">
            <a:avLst/>
          </a:prstGeom>
          <a:solidFill>
            <a:srgbClr val="24283B"/>
          </a:solidFill>
          <a:ln/>
        </p:spPr>
      </p:sp>
      <p:sp>
        <p:nvSpPr>
          <p:cNvPr id="14" name="Shape 10"/>
          <p:cNvSpPr/>
          <p:nvPr/>
        </p:nvSpPr>
        <p:spPr>
          <a:xfrm>
            <a:off x="640080" y="2103120"/>
            <a:ext cx="54864" cy="457200"/>
          </a:xfrm>
          <a:prstGeom prst="rect">
            <a:avLst/>
          </a:prstGeom>
          <a:solidFill>
            <a:srgbClr val="FF9E64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167128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371600" y="21031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3200400" y="21031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이슈를 만들고 Phase별 순서 정하기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640080" y="2651760"/>
            <a:ext cx="7863840" cy="457200"/>
          </a:xfrm>
          <a:prstGeom prst="rect">
            <a:avLst/>
          </a:prstGeom>
          <a:solidFill>
            <a:srgbClr val="24283B"/>
          </a:solidFill>
          <a:ln/>
        </p:spPr>
      </p:sp>
      <p:sp>
        <p:nvSpPr>
          <p:cNvPr id="19" name="Shape 14"/>
          <p:cNvSpPr/>
          <p:nvPr/>
        </p:nvSpPr>
        <p:spPr>
          <a:xfrm>
            <a:off x="640080" y="2651760"/>
            <a:ext cx="54864" cy="457200"/>
          </a:xfrm>
          <a:prstGeom prst="rect">
            <a:avLst/>
          </a:prstGeom>
          <a:solidFill>
            <a:srgbClr val="7DCFFF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2715768"/>
            <a:ext cx="320040" cy="32004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371600" y="26517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디자인 디렉터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3200400" y="26517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눈으로 보고 픽셀 단위 피드백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640080" y="3200400"/>
            <a:ext cx="7863840" cy="457200"/>
          </a:xfrm>
          <a:prstGeom prst="rect">
            <a:avLst/>
          </a:prstGeom>
          <a:solidFill>
            <a:srgbClr val="24283B"/>
          </a:solidFill>
          <a:ln/>
        </p:spPr>
      </p:sp>
      <p:sp>
        <p:nvSpPr>
          <p:cNvPr id="24" name="Shape 18"/>
          <p:cNvSpPr/>
          <p:nvPr/>
        </p:nvSpPr>
        <p:spPr>
          <a:xfrm>
            <a:off x="640080" y="3200400"/>
            <a:ext cx="54864" cy="457200"/>
          </a:xfrm>
          <a:prstGeom prst="rect">
            <a:avLst/>
          </a:prstGeom>
          <a:solidFill>
            <a:srgbClr val="73DACA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3264408"/>
            <a:ext cx="320040" cy="32004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371600" y="32004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관리자</a:t>
            </a:r>
            <a:endParaRPr lang="en-US" sz="1300" dirty="0"/>
          </a:p>
        </p:txBody>
      </p:sp>
      <p:sp>
        <p:nvSpPr>
          <p:cNvPr id="27" name="Text 20"/>
          <p:cNvSpPr/>
          <p:nvPr/>
        </p:nvSpPr>
        <p:spPr>
          <a:xfrm>
            <a:off x="3200400" y="32004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키 발급, 외부 서비스 연결</a:t>
            </a:r>
            <a:endParaRPr lang="en-US" sz="1200" dirty="0"/>
          </a:p>
        </p:txBody>
      </p:sp>
      <p:sp>
        <p:nvSpPr>
          <p:cNvPr id="28" name="Shape 21"/>
          <p:cNvSpPr/>
          <p:nvPr/>
        </p:nvSpPr>
        <p:spPr>
          <a:xfrm>
            <a:off x="640080" y="3749040"/>
            <a:ext cx="7863840" cy="457200"/>
          </a:xfrm>
          <a:prstGeom prst="rect">
            <a:avLst/>
          </a:prstGeom>
          <a:solidFill>
            <a:srgbClr val="24283B"/>
          </a:solidFill>
          <a:ln/>
        </p:spPr>
      </p:sp>
      <p:sp>
        <p:nvSpPr>
          <p:cNvPr id="29" name="Shape 22"/>
          <p:cNvSpPr/>
          <p:nvPr/>
        </p:nvSpPr>
        <p:spPr>
          <a:xfrm>
            <a:off x="640080" y="3749040"/>
            <a:ext cx="54864" cy="457200"/>
          </a:xfrm>
          <a:prstGeom prst="rect">
            <a:avLst/>
          </a:prstGeom>
          <a:solidFill>
            <a:srgbClr val="F7768E"/>
          </a:solidFill>
          <a:ln/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3813048"/>
            <a:ext cx="320040" cy="32004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1371600" y="37490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테스터</a:t>
            </a:r>
            <a:endParaRPr lang="en-US" sz="1300" dirty="0"/>
          </a:p>
        </p:txBody>
      </p:sp>
      <p:sp>
        <p:nvSpPr>
          <p:cNvPr id="32" name="Text 24"/>
          <p:cNvSpPr/>
          <p:nvPr/>
        </p:nvSpPr>
        <p:spPr>
          <a:xfrm>
            <a:off x="3200400" y="37490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완료 보고를 실제로 검증하기</a:t>
            </a:r>
            <a:endParaRPr lang="en-US" sz="1200" dirty="0"/>
          </a:p>
        </p:txBody>
      </p:sp>
      <p:sp>
        <p:nvSpPr>
          <p:cNvPr id="33" name="Shape 25"/>
          <p:cNvSpPr/>
          <p:nvPr/>
        </p:nvSpPr>
        <p:spPr>
          <a:xfrm>
            <a:off x="640080" y="4297680"/>
            <a:ext cx="7863840" cy="457200"/>
          </a:xfrm>
          <a:prstGeom prst="rect">
            <a:avLst/>
          </a:prstGeom>
          <a:solidFill>
            <a:srgbClr val="24283B"/>
          </a:solidFill>
          <a:ln/>
        </p:spPr>
      </p:sp>
      <p:sp>
        <p:nvSpPr>
          <p:cNvPr id="34" name="Shape 26"/>
          <p:cNvSpPr/>
          <p:nvPr/>
        </p:nvSpPr>
        <p:spPr>
          <a:xfrm>
            <a:off x="640080" y="4297680"/>
            <a:ext cx="54864" cy="457200"/>
          </a:xfrm>
          <a:prstGeom prst="rect">
            <a:avLst/>
          </a:prstGeom>
          <a:solidFill>
            <a:srgbClr val="9ECE6A"/>
          </a:solidFill>
          <a:ln/>
        </p:spPr>
      </p:sp>
      <p:pic>
        <p:nvPicPr>
          <p:cNvPr id="3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8680" y="4361688"/>
            <a:ext cx="320040" cy="320040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1371600" y="42976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운영자</a:t>
            </a:r>
            <a:endParaRPr lang="en-US" sz="1300" dirty="0"/>
          </a:p>
        </p:txBody>
      </p:sp>
      <p:sp>
        <p:nvSpPr>
          <p:cNvPr id="37" name="Text 28"/>
          <p:cNvSpPr/>
          <p:nvPr/>
        </p:nvSpPr>
        <p:spPr>
          <a:xfrm>
            <a:off x="3200400" y="42976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pm2로 시스템 띄우고 관리하기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20040"/>
            <a:ext cx="411480" cy="411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88720" y="3200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이슈 기반 개발 워크플로우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640080" y="8686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모든 작업은 GitHub 이슈를 먼저 만들고, 이슈 단위로 개발/리뷰/머지합니다.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640080" y="1371600"/>
            <a:ext cx="1920240" cy="1645920"/>
          </a:xfrm>
          <a:prstGeom prst="rect">
            <a:avLst/>
          </a:prstGeom>
          <a:solidFill>
            <a:srgbClr val="24283B"/>
          </a:solidFill>
          <a:ln/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40080" y="1371600"/>
            <a:ext cx="54864" cy="1645920"/>
          </a:xfrm>
          <a:prstGeom prst="rect">
            <a:avLst/>
          </a:prstGeom>
          <a:solidFill>
            <a:srgbClr val="BB9AF7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14173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B9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777240" y="19202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마일스톤 계획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77240" y="228600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큰 목표를 마일스톤으로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나누고 순서를 정한다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788920" y="1371600"/>
            <a:ext cx="1920240" cy="1645920"/>
          </a:xfrm>
          <a:prstGeom prst="rect">
            <a:avLst/>
          </a:prstGeom>
          <a:solidFill>
            <a:srgbClr val="24283B"/>
          </a:solidFill>
          <a:ln/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788920" y="1371600"/>
            <a:ext cx="54864" cy="1645920"/>
          </a:xfrm>
          <a:prstGeom prst="rect">
            <a:avLst/>
          </a:prstGeom>
          <a:solidFill>
            <a:srgbClr val="7AA2F7"/>
          </a:solidFill>
          <a:ln/>
        </p:spPr>
      </p:sp>
      <p:sp>
        <p:nvSpPr>
          <p:cNvPr id="12" name="Text 9"/>
          <p:cNvSpPr/>
          <p:nvPr/>
        </p:nvSpPr>
        <p:spPr>
          <a:xfrm>
            <a:off x="2926080" y="14173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AA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2926080" y="19202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이슈 생성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2926080" y="228600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Tidy First 기준으로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구조/기능 이슈 분리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937760" y="1371600"/>
            <a:ext cx="1920240" cy="1645920"/>
          </a:xfrm>
          <a:prstGeom prst="rect">
            <a:avLst/>
          </a:prstGeom>
          <a:solidFill>
            <a:srgbClr val="24283B"/>
          </a:solidFill>
          <a:ln/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937760" y="1371600"/>
            <a:ext cx="54864" cy="1645920"/>
          </a:xfrm>
          <a:prstGeom prst="rect">
            <a:avLst/>
          </a:prstGeom>
          <a:solidFill>
            <a:srgbClr val="9ECE6A"/>
          </a:solidFill>
          <a:ln/>
        </p:spPr>
      </p:sp>
      <p:sp>
        <p:nvSpPr>
          <p:cNvPr id="17" name="Text 14"/>
          <p:cNvSpPr/>
          <p:nvPr/>
        </p:nvSpPr>
        <p:spPr>
          <a:xfrm>
            <a:off x="5074920" y="14173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9EC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18" name="Text 15"/>
          <p:cNvSpPr/>
          <p:nvPr/>
        </p:nvSpPr>
        <p:spPr>
          <a:xfrm>
            <a:off x="5074920" y="19202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에이전트 개발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5074920" y="228600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이슈별 브랜치 생성 후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전문 에이전트가 개발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7086600" y="1371600"/>
            <a:ext cx="1920240" cy="1645920"/>
          </a:xfrm>
          <a:prstGeom prst="rect">
            <a:avLst/>
          </a:prstGeom>
          <a:solidFill>
            <a:srgbClr val="24283B"/>
          </a:solidFill>
          <a:ln/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7086600" y="1371600"/>
            <a:ext cx="54864" cy="1645920"/>
          </a:xfrm>
          <a:prstGeom prst="rect">
            <a:avLst/>
          </a:prstGeom>
          <a:solidFill>
            <a:srgbClr val="F7768E"/>
          </a:solidFill>
          <a:ln/>
        </p:spPr>
      </p:sp>
      <p:sp>
        <p:nvSpPr>
          <p:cNvPr id="22" name="Text 19"/>
          <p:cNvSpPr/>
          <p:nvPr/>
        </p:nvSpPr>
        <p:spPr>
          <a:xfrm>
            <a:off x="7223760" y="14173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776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sp>
        <p:nvSpPr>
          <p:cNvPr id="23" name="Text 20"/>
          <p:cNvSpPr/>
          <p:nvPr/>
        </p:nvSpPr>
        <p:spPr>
          <a:xfrm>
            <a:off x="7223760" y="19202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+ 리뷰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7223760" y="228600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code-reviewer가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자동 리뷰 후 머지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640080" y="3291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DC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이슈에 담기는 정보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40080" y="3749040"/>
            <a:ext cx="1920240" cy="822960"/>
          </a:xfrm>
          <a:prstGeom prst="rect">
            <a:avLst/>
          </a:prstGeom>
          <a:solidFill>
            <a:srgbClr val="1F2335"/>
          </a:solidFill>
          <a:ln/>
        </p:spPr>
      </p:sp>
      <p:sp>
        <p:nvSpPr>
          <p:cNvPr id="27" name="Text 24"/>
          <p:cNvSpPr/>
          <p:nvPr/>
        </p:nvSpPr>
        <p:spPr>
          <a:xfrm>
            <a:off x="731520" y="37947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A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PRD 참조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731520" y="41148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섹션 번호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2788920" y="3749040"/>
            <a:ext cx="1920240" cy="822960"/>
          </a:xfrm>
          <a:prstGeom prst="rect">
            <a:avLst/>
          </a:prstGeom>
          <a:solidFill>
            <a:srgbClr val="1F2335"/>
          </a:solidFill>
          <a:ln/>
        </p:spPr>
      </p:sp>
      <p:sp>
        <p:nvSpPr>
          <p:cNvPr id="30" name="Text 27"/>
          <p:cNvSpPr/>
          <p:nvPr/>
        </p:nvSpPr>
        <p:spPr>
          <a:xfrm>
            <a:off x="2880360" y="37947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EC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담당 에이전트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2880360" y="41148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feature-dev 등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4937760" y="3749040"/>
            <a:ext cx="1920240" cy="822960"/>
          </a:xfrm>
          <a:prstGeom prst="rect">
            <a:avLst/>
          </a:prstGeom>
          <a:solidFill>
            <a:srgbClr val="1F2335"/>
          </a:solidFill>
          <a:ln/>
        </p:spPr>
      </p:sp>
      <p:sp>
        <p:nvSpPr>
          <p:cNvPr id="33" name="Text 30"/>
          <p:cNvSpPr/>
          <p:nvPr/>
        </p:nvSpPr>
        <p:spPr>
          <a:xfrm>
            <a:off x="5029200" y="37947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9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상세 설계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5029200" y="41148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파일, API, DB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7086600" y="3749040"/>
            <a:ext cx="1920240" cy="822960"/>
          </a:xfrm>
          <a:prstGeom prst="rect">
            <a:avLst/>
          </a:prstGeom>
          <a:solidFill>
            <a:srgbClr val="1F2335"/>
          </a:solidFill>
          <a:ln/>
        </p:spPr>
      </p:sp>
      <p:sp>
        <p:nvSpPr>
          <p:cNvPr id="36" name="Text 33"/>
          <p:cNvSpPr/>
          <p:nvPr/>
        </p:nvSpPr>
        <p:spPr>
          <a:xfrm>
            <a:off x="7178040" y="37947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776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테스트 계획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7178040" y="41148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Red→Green→Refactor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20040"/>
            <a:ext cx="411480" cy="411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88720" y="3200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전문 에이전트 팀 구성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640080" y="8686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단일 AI가 아닌 역할별 전문 에이전트를 팀처럼 구성하여 병렬 작업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640080" y="1280160"/>
            <a:ext cx="7863840" cy="365760"/>
          </a:xfrm>
          <a:prstGeom prst="rect">
            <a:avLst/>
          </a:prstGeom>
          <a:solidFill>
            <a:srgbClr val="1F2335"/>
          </a:solidFill>
          <a:ln/>
        </p:spPr>
      </p:sp>
      <p:sp>
        <p:nvSpPr>
          <p:cNvPr id="6" name="Text 3"/>
          <p:cNvSpPr/>
          <p:nvPr/>
        </p:nvSpPr>
        <p:spPr>
          <a:xfrm>
            <a:off x="822960" y="12801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DC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에이전트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2926080" y="12801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DC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역할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846320" y="12801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DC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담당 업무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40080" y="1691640"/>
            <a:ext cx="7863840" cy="365760"/>
          </a:xfrm>
          <a:prstGeom prst="rect">
            <a:avLst/>
          </a:prstGeom>
          <a:solidFill>
            <a:srgbClr val="24283B"/>
          </a:solidFill>
          <a:ln/>
        </p:spPr>
      </p:sp>
      <p:sp>
        <p:nvSpPr>
          <p:cNvPr id="10" name="Text 7"/>
          <p:cNvSpPr/>
          <p:nvPr/>
        </p:nvSpPr>
        <p:spPr>
          <a:xfrm>
            <a:off x="822960" y="16916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AA2F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code-architect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2926080" y="16916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아키텍처 설계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846320" y="16916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모듈 설계, 인터페이스 정의, 이슈 계획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640080" y="2084832"/>
            <a:ext cx="7863840" cy="365760"/>
          </a:xfrm>
          <a:prstGeom prst="rect">
            <a:avLst/>
          </a:prstGeom>
          <a:solidFill>
            <a:srgbClr val="1A1B26"/>
          </a:solidFill>
          <a:ln/>
        </p:spPr>
      </p:sp>
      <p:sp>
        <p:nvSpPr>
          <p:cNvPr id="14" name="Text 11"/>
          <p:cNvSpPr/>
          <p:nvPr/>
        </p:nvSpPr>
        <p:spPr>
          <a:xfrm>
            <a:off x="822960" y="20848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ECE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feature-dev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2926080" y="208483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서버 개발자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4846320" y="208483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백엔드 기능 구현, API, DB, 수집기 개발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640080" y="2478024"/>
            <a:ext cx="7863840" cy="365760"/>
          </a:xfrm>
          <a:prstGeom prst="rect">
            <a:avLst/>
          </a:prstGeom>
          <a:solidFill>
            <a:srgbClr val="24283B"/>
          </a:solidFill>
          <a:ln/>
        </p:spPr>
      </p:sp>
      <p:sp>
        <p:nvSpPr>
          <p:cNvPr id="18" name="Text 15"/>
          <p:cNvSpPr/>
          <p:nvPr/>
        </p:nvSpPr>
        <p:spPr>
          <a:xfrm>
            <a:off x="822960" y="247802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B9AF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frontend-design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2926080" y="247802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프론트엔드 개발자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4846320" y="2478024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컴포넌트, 페이지, 상태 관리 구현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640080" y="2871216"/>
            <a:ext cx="7863840" cy="365760"/>
          </a:xfrm>
          <a:prstGeom prst="rect">
            <a:avLst/>
          </a:prstGeom>
          <a:solidFill>
            <a:srgbClr val="1A1B26"/>
          </a:solidFill>
          <a:ln/>
        </p:spPr>
      </p:sp>
      <p:sp>
        <p:nvSpPr>
          <p:cNvPr id="22" name="Text 19"/>
          <p:cNvSpPr/>
          <p:nvPr/>
        </p:nvSpPr>
        <p:spPr>
          <a:xfrm>
            <a:off x="822960" y="287121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DC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frontend-design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2926080" y="287121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UX/UI 디자이너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4846320" y="2871216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프로토타입, 레이아웃, 테마, 반응형 설계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640080" y="3264408"/>
            <a:ext cx="7863840" cy="365760"/>
          </a:xfrm>
          <a:prstGeom prst="rect">
            <a:avLst/>
          </a:prstGeom>
          <a:solidFill>
            <a:srgbClr val="24283B"/>
          </a:solidFill>
          <a:ln/>
        </p:spPr>
      </p:sp>
      <p:sp>
        <p:nvSpPr>
          <p:cNvPr id="26" name="Text 23"/>
          <p:cNvSpPr/>
          <p:nvPr/>
        </p:nvSpPr>
        <p:spPr>
          <a:xfrm>
            <a:off x="822960" y="326440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7768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code-reviewer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2926080" y="326440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코드 리뷰어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4846320" y="326440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리뷰, 품질 검증, 개선 지시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640080" y="3657600"/>
            <a:ext cx="7863840" cy="365760"/>
          </a:xfrm>
          <a:prstGeom prst="rect">
            <a:avLst/>
          </a:prstGeom>
          <a:solidFill>
            <a:srgbClr val="1A1B26"/>
          </a:solidFill>
          <a:ln/>
        </p:spPr>
      </p:sp>
      <p:sp>
        <p:nvSpPr>
          <p:cNvPr id="30" name="Text 27"/>
          <p:cNvSpPr/>
          <p:nvPr/>
        </p:nvSpPr>
        <p:spPr>
          <a:xfrm>
            <a:off x="822960" y="36576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3DAC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code-explorer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2926080" y="36576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코드 분석가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4846320" y="36576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 코드 파악, 실행 경로 추적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640080" y="4050792"/>
            <a:ext cx="7863840" cy="365760"/>
          </a:xfrm>
          <a:prstGeom prst="rect">
            <a:avLst/>
          </a:prstGeom>
          <a:solidFill>
            <a:srgbClr val="24283B"/>
          </a:solidFill>
          <a:ln/>
        </p:spPr>
      </p:sp>
      <p:sp>
        <p:nvSpPr>
          <p:cNvPr id="34" name="Text 31"/>
          <p:cNvSpPr/>
          <p:nvPr/>
        </p:nvSpPr>
        <p:spPr>
          <a:xfrm>
            <a:off x="822960" y="405079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9E6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code-simplifier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2926080" y="40507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코드 정리자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4846320" y="405079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Tidy First 구조적 변경, 리팩토링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640080" y="4526280"/>
            <a:ext cx="7863840" cy="502920"/>
          </a:xfrm>
          <a:prstGeom prst="rect">
            <a:avLst/>
          </a:prstGeom>
          <a:solidFill>
            <a:srgbClr val="1F2335"/>
          </a:solidFill>
          <a:ln/>
        </p:spPr>
      </p:sp>
      <p:sp>
        <p:nvSpPr>
          <p:cNvPr id="38" name="Shape 35"/>
          <p:cNvSpPr/>
          <p:nvPr/>
        </p:nvSpPr>
        <p:spPr>
          <a:xfrm>
            <a:off x="640080" y="4526280"/>
            <a:ext cx="54864" cy="502920"/>
          </a:xfrm>
          <a:prstGeom prst="rect">
            <a:avLst/>
          </a:prstGeom>
          <a:solidFill>
            <a:srgbClr val="FF9E64"/>
          </a:solidFill>
          <a:ln/>
        </p:spPr>
      </p:sp>
      <p:sp>
        <p:nvSpPr>
          <p:cNvPr id="39" name="Text 36"/>
          <p:cNvSpPr/>
          <p:nvPr/>
        </p:nvSpPr>
        <p:spPr>
          <a:xfrm>
            <a:off x="914400" y="45262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9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사례: M4-5에서 5개 에이전트 Worktree 동시 작업 → 5개 컴포넌트 병렬 개발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PRD — AI에게 주는 프로젝트 설계도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PRD(Product Requirements Document)는 '무엇을 만들 것인가'를 정의하는 문서. AI가 이 문서를 기준으로 모든 작업 수행.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2560320" cy="914400"/>
          </a:xfrm>
          <a:prstGeom prst="rect">
            <a:avLst/>
          </a:prstGeom>
          <a:solidFill>
            <a:srgbClr val="24283B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371600"/>
            <a:ext cx="54864" cy="914400"/>
          </a:xfrm>
          <a:prstGeom prst="rect">
            <a:avLst/>
          </a:prstGeom>
          <a:solidFill>
            <a:srgbClr val="BB9AF7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4173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B9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프로젝트 개요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17373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목적, 배경,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타겟 사용자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474720" y="1371600"/>
            <a:ext cx="2560320" cy="914400"/>
          </a:xfrm>
          <a:prstGeom prst="rect">
            <a:avLst/>
          </a:prstGeom>
          <a:solidFill>
            <a:srgbClr val="24283B"/>
          </a:solidFill>
          <a:ln/>
        </p:spPr>
      </p:sp>
      <p:sp>
        <p:nvSpPr>
          <p:cNvPr id="9" name="Shape 7"/>
          <p:cNvSpPr/>
          <p:nvPr/>
        </p:nvSpPr>
        <p:spPr>
          <a:xfrm>
            <a:off x="3474720" y="1371600"/>
            <a:ext cx="54864" cy="914400"/>
          </a:xfrm>
          <a:prstGeom prst="rect">
            <a:avLst/>
          </a:prstGeom>
          <a:solidFill>
            <a:srgbClr val="7AA2F7"/>
          </a:solidFill>
          <a:ln/>
        </p:spPr>
      </p:sp>
      <p:sp>
        <p:nvSpPr>
          <p:cNvPr id="10" name="Text 8"/>
          <p:cNvSpPr/>
          <p:nvPr/>
        </p:nvSpPr>
        <p:spPr>
          <a:xfrm>
            <a:off x="3611880" y="14173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A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기술 스택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11880" y="17373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프레임워크, DB,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목록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309360" y="1371600"/>
            <a:ext cx="2560320" cy="914400"/>
          </a:xfrm>
          <a:prstGeom prst="rect">
            <a:avLst/>
          </a:prstGeom>
          <a:solidFill>
            <a:srgbClr val="24283B"/>
          </a:solidFill>
          <a:ln/>
        </p:spPr>
      </p:sp>
      <p:sp>
        <p:nvSpPr>
          <p:cNvPr id="13" name="Shape 11"/>
          <p:cNvSpPr/>
          <p:nvPr/>
        </p:nvSpPr>
        <p:spPr>
          <a:xfrm>
            <a:off x="6309360" y="1371600"/>
            <a:ext cx="54864" cy="914400"/>
          </a:xfrm>
          <a:prstGeom prst="rect">
            <a:avLst/>
          </a:prstGeom>
          <a:solidFill>
            <a:srgbClr val="9ECE6A"/>
          </a:solidFill>
          <a:ln/>
        </p:spPr>
      </p:sp>
      <p:sp>
        <p:nvSpPr>
          <p:cNvPr id="14" name="Text 12"/>
          <p:cNvSpPr/>
          <p:nvPr/>
        </p:nvSpPr>
        <p:spPr>
          <a:xfrm>
            <a:off x="6446520" y="14173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EC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기능 정의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46520" y="17373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기능별 상세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요구사항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40080" y="2468880"/>
            <a:ext cx="2560320" cy="914400"/>
          </a:xfrm>
          <a:prstGeom prst="rect">
            <a:avLst/>
          </a:prstGeom>
          <a:solidFill>
            <a:srgbClr val="24283B"/>
          </a:solidFill>
          <a:ln/>
        </p:spPr>
      </p:sp>
      <p:sp>
        <p:nvSpPr>
          <p:cNvPr id="17" name="Shape 15"/>
          <p:cNvSpPr/>
          <p:nvPr/>
        </p:nvSpPr>
        <p:spPr>
          <a:xfrm>
            <a:off x="640080" y="2468880"/>
            <a:ext cx="54864" cy="914400"/>
          </a:xfrm>
          <a:prstGeom prst="rect">
            <a:avLst/>
          </a:prstGeom>
          <a:solidFill>
            <a:srgbClr val="FF9E64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25146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9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UI/UX 요구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77240" y="28346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레이아웃,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반응형 설계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474720" y="2468880"/>
            <a:ext cx="2560320" cy="914400"/>
          </a:xfrm>
          <a:prstGeom prst="rect">
            <a:avLst/>
          </a:prstGeom>
          <a:solidFill>
            <a:srgbClr val="24283B"/>
          </a:solidFill>
          <a:ln/>
        </p:spPr>
      </p:sp>
      <p:sp>
        <p:nvSpPr>
          <p:cNvPr id="21" name="Shape 19"/>
          <p:cNvSpPr/>
          <p:nvPr/>
        </p:nvSpPr>
        <p:spPr>
          <a:xfrm>
            <a:off x="3474720" y="2468880"/>
            <a:ext cx="54864" cy="914400"/>
          </a:xfrm>
          <a:prstGeom prst="rect">
            <a:avLst/>
          </a:prstGeom>
          <a:solidFill>
            <a:srgbClr val="F7768E"/>
          </a:solidFill>
          <a:ln/>
        </p:spPr>
      </p:sp>
      <p:sp>
        <p:nvSpPr>
          <p:cNvPr id="22" name="Text 20"/>
          <p:cNvSpPr/>
          <p:nvPr/>
        </p:nvSpPr>
        <p:spPr>
          <a:xfrm>
            <a:off x="3611880" y="25146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776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마일스톤 계획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611880" y="28346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M1~M7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단계별 목표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309360" y="2468880"/>
            <a:ext cx="2560320" cy="914400"/>
          </a:xfrm>
          <a:prstGeom prst="rect">
            <a:avLst/>
          </a:prstGeom>
          <a:solidFill>
            <a:srgbClr val="24283B"/>
          </a:solidFill>
          <a:ln/>
        </p:spPr>
      </p:sp>
      <p:sp>
        <p:nvSpPr>
          <p:cNvPr id="25" name="Shape 23"/>
          <p:cNvSpPr/>
          <p:nvPr/>
        </p:nvSpPr>
        <p:spPr>
          <a:xfrm>
            <a:off x="6309360" y="2468880"/>
            <a:ext cx="54864" cy="914400"/>
          </a:xfrm>
          <a:prstGeom prst="rect">
            <a:avLst/>
          </a:prstGeom>
          <a:solidFill>
            <a:srgbClr val="73DACA"/>
          </a:solidFill>
          <a:ln/>
        </p:spPr>
      </p:sp>
      <p:sp>
        <p:nvSpPr>
          <p:cNvPr id="26" name="Text 24"/>
          <p:cNvSpPr/>
          <p:nvPr/>
        </p:nvSpPr>
        <p:spPr>
          <a:xfrm>
            <a:off x="6446520" y="25146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3DA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부록: 데이터 소스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46520" y="28346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URL, 인증,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제한 사항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40080" y="36576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9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PRD → 이슈 → AI 개발 루프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40080" y="4114800"/>
            <a:ext cx="1234440" cy="502920"/>
          </a:xfrm>
          <a:prstGeom prst="rect">
            <a:avLst/>
          </a:prstGeom>
          <a:solidFill>
            <a:srgbClr val="24283B"/>
          </a:solidFill>
          <a:ln w="12700">
            <a:solidFill>
              <a:srgbClr val="BB9AF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411480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B9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PRD 작성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057400" y="4114800"/>
            <a:ext cx="1234440" cy="502920"/>
          </a:xfrm>
          <a:prstGeom prst="rect">
            <a:avLst/>
          </a:prstGeom>
          <a:solidFill>
            <a:srgbClr val="24283B"/>
          </a:solidFill>
          <a:ln w="12700">
            <a:solidFill>
              <a:srgbClr val="7AA2F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057400" y="411480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AA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마일스톤 분리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474720" y="4114800"/>
            <a:ext cx="1234440" cy="502920"/>
          </a:xfrm>
          <a:prstGeom prst="rect">
            <a:avLst/>
          </a:prstGeom>
          <a:solidFill>
            <a:srgbClr val="24283B"/>
          </a:solidFill>
          <a:ln w="12700">
            <a:solidFill>
              <a:srgbClr val="FF9E6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74720" y="411480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9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이슈 생성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892040" y="4114800"/>
            <a:ext cx="1234440" cy="502920"/>
          </a:xfrm>
          <a:prstGeom prst="rect">
            <a:avLst/>
          </a:prstGeom>
          <a:solidFill>
            <a:srgbClr val="24283B"/>
          </a:solidFill>
          <a:ln w="12700">
            <a:solidFill>
              <a:srgbClr val="9ECE6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92040" y="411480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EC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에이전트 개발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309360" y="4114800"/>
            <a:ext cx="1234440" cy="502920"/>
          </a:xfrm>
          <a:prstGeom prst="rect">
            <a:avLst/>
          </a:prstGeom>
          <a:solidFill>
            <a:srgbClr val="24283B"/>
          </a:solidFill>
          <a:ln w="12700">
            <a:solidFill>
              <a:srgbClr val="F7768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09360" y="411480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776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리뷰+머지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7726680" y="4114800"/>
            <a:ext cx="1234440" cy="502920"/>
          </a:xfrm>
          <a:prstGeom prst="rect">
            <a:avLst/>
          </a:prstGeom>
          <a:solidFill>
            <a:srgbClr val="24283B"/>
          </a:solidFill>
          <a:ln w="12700">
            <a:solidFill>
              <a:srgbClr val="BB9AF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726680" y="411480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B9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PRD 갱신 ⟳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20040"/>
            <a:ext cx="411480" cy="411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88720" y="3200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역할 1: 기획자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640080" y="9144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"뭘 만들 건지 말하기" — 한 문장으로 시작해서 대화하며 키운다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3200400" y="1463040"/>
            <a:ext cx="5303520" cy="594360"/>
          </a:xfrm>
          <a:prstGeom prst="rect">
            <a:avLst/>
          </a:prstGeom>
          <a:solidFill>
            <a:srgbClr val="24283B"/>
          </a:solidFill>
          <a:ln w="8890">
            <a:solidFill>
              <a:srgbClr val="7AA2F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383280" y="146304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A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국제 정세 시국을 모니터링하는 대시보드를 만들고 싶네요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863840" y="146304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5F8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11:36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3200400" y="2240280"/>
            <a:ext cx="5303520" cy="594360"/>
          </a:xfrm>
          <a:prstGeom prst="rect">
            <a:avLst/>
          </a:prstGeom>
          <a:solidFill>
            <a:srgbClr val="24283B"/>
          </a:solidFill>
          <a:ln w="8890">
            <a:solidFill>
              <a:srgbClr val="7AA2F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383280" y="224028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A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중동 유조선이나 LPG선도 추가해주세요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863840" y="224028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5F8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11:37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3200400" y="3017520"/>
            <a:ext cx="5303520" cy="594360"/>
          </a:xfrm>
          <a:prstGeom prst="rect">
            <a:avLst/>
          </a:prstGeom>
          <a:solidFill>
            <a:srgbClr val="24283B"/>
          </a:solidFill>
          <a:ln w="8890">
            <a:solidFill>
              <a:srgbClr val="7AA2F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383280" y="301752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A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국내/미국 주식, 유가, 금 현물도 추가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863840" y="301752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5F8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11:54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3200400" y="3794760"/>
            <a:ext cx="5303520" cy="594360"/>
          </a:xfrm>
          <a:prstGeom prst="rect">
            <a:avLst/>
          </a:prstGeom>
          <a:solidFill>
            <a:srgbClr val="24283B"/>
          </a:solidFill>
          <a:ln w="8890">
            <a:solidFill>
              <a:srgbClr val="7AA2F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383280" y="379476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A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두바이 공항 운항 모니터링도 넣고 싶어요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7863840" y="379476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5F8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22:01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640080" y="4572000"/>
            <a:ext cx="7863840" cy="457200"/>
          </a:xfrm>
          <a:prstGeom prst="rect">
            <a:avLst/>
          </a:prstGeom>
          <a:solidFill>
            <a:srgbClr val="1F2335"/>
          </a:solidFill>
          <a:ln/>
        </p:spPr>
      </p:sp>
      <p:sp>
        <p:nvSpPr>
          <p:cNvPr id="18" name="Text 15"/>
          <p:cNvSpPr/>
          <p:nvPr/>
        </p:nvSpPr>
        <p:spPr>
          <a:xfrm>
            <a:off x="822960" y="45720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9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핵심: 처음부터 완벽한 기획서가 필요 없다. 한 문장으로 시작해서 대화하며 키운다.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20040"/>
            <a:ext cx="411480" cy="411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88720" y="3200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역할 2: 설계자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640080" y="8686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DC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 = AI에게 주는 '사원 핸드북'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640080" y="1463040"/>
            <a:ext cx="3931920" cy="1188720"/>
          </a:xfrm>
          <a:prstGeom prst="rect">
            <a:avLst/>
          </a:prstGeom>
          <a:solidFill>
            <a:srgbClr val="24283B"/>
          </a:solidFill>
          <a:ln/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22960" y="15544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기술 스택 고정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22960" y="192024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+ Prisma + SQLite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AI가 매번 같은 도구를 사용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40080" y="2926080"/>
            <a:ext cx="3931920" cy="1188720"/>
          </a:xfrm>
          <a:prstGeom prst="rect">
            <a:avLst/>
          </a:prstGeom>
          <a:solidFill>
            <a:srgbClr val="24283B"/>
          </a:solidFill>
          <a:ln/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22960" y="30175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개발 원칙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22960" y="338328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TDD (Red→Green→Refactor)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Tidy First (구조 변경 우선)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937760" y="1463040"/>
            <a:ext cx="3931920" cy="1188720"/>
          </a:xfrm>
          <a:prstGeom prst="rect">
            <a:avLst/>
          </a:prstGeom>
          <a:solidFill>
            <a:srgbClr val="24283B"/>
          </a:solidFill>
          <a:ln/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120640" y="15544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워크플로우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120640" y="192024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Git-Flow + GitHub 이슈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일관된 작업 절차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937760" y="2926080"/>
            <a:ext cx="3931920" cy="1188720"/>
          </a:xfrm>
          <a:prstGeom prst="rect">
            <a:avLst/>
          </a:prstGeom>
          <a:solidFill>
            <a:srgbClr val="24283B"/>
          </a:solidFill>
          <a:ln/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5120640" y="30175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전문 에이전트 목록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120640" y="338328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code-architect, feature-dev 등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역할별 AI 팀 구성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40080" y="4572000"/>
            <a:ext cx="7863840" cy="457200"/>
          </a:xfrm>
          <a:prstGeom prst="rect">
            <a:avLst/>
          </a:prstGeom>
          <a:solidFill>
            <a:srgbClr val="1F2335"/>
          </a:solidFill>
          <a:ln/>
        </p:spPr>
      </p:sp>
      <p:sp>
        <p:nvSpPr>
          <p:cNvPr id="18" name="Text 15"/>
          <p:cNvSpPr/>
          <p:nvPr/>
        </p:nvSpPr>
        <p:spPr>
          <a:xfrm>
            <a:off x="822960" y="45720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9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핵심: 이 문서가 잘 작성되면 AI가 매번 같은 수준으로 일관되게 작업합니다.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역할 3~7 요약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1005840"/>
            <a:ext cx="2651760" cy="3657600"/>
          </a:xfrm>
          <a:prstGeom prst="rect">
            <a:avLst/>
          </a:prstGeom>
          <a:solidFill>
            <a:srgbClr val="24283B"/>
          </a:solidFill>
          <a:ln/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005840"/>
            <a:ext cx="64008" cy="3657600"/>
          </a:xfrm>
          <a:prstGeom prst="rect">
            <a:avLst/>
          </a:prstGeom>
          <a:solidFill>
            <a:srgbClr val="FF9E64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0972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9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— 이슈 관리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55448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Phase별 순서, 이슈 번호, 순차/병렬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구분까지 마크다운으로 직접 작성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77240" y="2560320"/>
            <a:ext cx="2377440" cy="1645920"/>
          </a:xfrm>
          <a:prstGeom prst="rect">
            <a:avLst/>
          </a:prstGeom>
          <a:solidFill>
            <a:srgbClr val="1F2335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65176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Phase 1(순차): #27→#28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Phase 2(병렬): #29,#30,#31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Phase 3(순차): #32→#33→#34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520440" y="1005840"/>
            <a:ext cx="2651760" cy="3657600"/>
          </a:xfrm>
          <a:prstGeom prst="rect">
            <a:avLst/>
          </a:prstGeom>
          <a:solidFill>
            <a:srgbClr val="24283B"/>
          </a:solidFill>
          <a:ln/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520440" y="1005840"/>
            <a:ext cx="64008" cy="3657600"/>
          </a:xfrm>
          <a:prstGeom prst="rect">
            <a:avLst/>
          </a:prstGeom>
          <a:solidFill>
            <a:srgbClr val="7DCFFF"/>
          </a:solidFill>
          <a:ln/>
        </p:spPr>
      </p:sp>
      <p:sp>
        <p:nvSpPr>
          <p:cNvPr id="11" name="Text 9"/>
          <p:cNvSpPr/>
          <p:nvPr/>
        </p:nvSpPr>
        <p:spPr>
          <a:xfrm>
            <a:off x="3703320" y="10972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DC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디자인 디렉터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703320" y="155448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픽셀 단위까지 피드백.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보이는 대로 말하면 AI가 고친다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0" y="2560320"/>
            <a:ext cx="2377440" cy="1645920"/>
          </a:xfrm>
          <a:prstGeom prst="rect">
            <a:avLst/>
          </a:prstGeom>
          <a:solidFill>
            <a:srgbClr val="1F2335"/>
          </a:solidFill>
          <a:ln/>
        </p:spPr>
      </p:sp>
      <p:sp>
        <p:nvSpPr>
          <p:cNvPr id="14" name="Text 12"/>
          <p:cNvSpPr/>
          <p:nvPr/>
        </p:nvSpPr>
        <p:spPr>
          <a:xfrm>
            <a:off x="3749040" y="265176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"뉴스 높이 640px→650→670→690"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"Tokyo Night 풍으로"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"너무 혼자만 칼라풀"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00800" y="1005840"/>
            <a:ext cx="2651760" cy="3657600"/>
          </a:xfrm>
          <a:prstGeom prst="rect">
            <a:avLst/>
          </a:prstGeom>
          <a:solidFill>
            <a:srgbClr val="24283B"/>
          </a:solidFill>
          <a:ln/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00800" y="1005840"/>
            <a:ext cx="64008" cy="3657600"/>
          </a:xfrm>
          <a:prstGeom prst="rect">
            <a:avLst/>
          </a:prstGeom>
          <a:solidFill>
            <a:srgbClr val="73DACA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0" y="10972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3DA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+ QA + 운영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583680" y="155448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키 발급, AI '완료' 보고 검증,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pm2로 서버 관리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537960" y="2560320"/>
            <a:ext cx="2377440" cy="1645920"/>
          </a:xfrm>
          <a:prstGeom prst="rect">
            <a:avLst/>
          </a:prstGeom>
          <a:solidFill>
            <a:srgbClr val="1F2335"/>
          </a:solidFill>
          <a:ln/>
        </p:spPr>
      </p:sp>
      <p:sp>
        <p:nvSpPr>
          <p:cNvPr id="20" name="Text 18"/>
          <p:cNvSpPr/>
          <p:nvPr/>
        </p:nvSpPr>
        <p:spPr>
          <a:xfrm>
            <a:off x="6629400" y="265176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"EK 비행기가 없는데요"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"INSERT가 아니라 UPDATE여야"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"pm2 재시작해야 하는 거?"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바이브 코딩 3대 핵심 패턴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7863840" cy="1051560"/>
          </a:xfrm>
          <a:prstGeom prst="rect">
            <a:avLst/>
          </a:prstGeom>
          <a:solidFill>
            <a:srgbClr val="24283B"/>
          </a:solidFill>
          <a:ln/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097280"/>
            <a:ext cx="64008" cy="1051560"/>
          </a:xfrm>
          <a:prstGeom prst="rect">
            <a:avLst/>
          </a:prstGeom>
          <a:solidFill>
            <a:srgbClr val="7AA2F7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1430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A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패턴 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011680" y="114300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대화 → 문서 → 대화 루프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1508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PRD를 한번 쓰고 끝이 아닙니다. 새 요구사항 → PRD 갱신 → 이슈 생성 → 에이전트 개발 → 리뷰 → PRD 재갱신 순환.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2377440"/>
            <a:ext cx="7863840" cy="1051560"/>
          </a:xfrm>
          <a:prstGeom prst="rect">
            <a:avLst/>
          </a:prstGeom>
          <a:solidFill>
            <a:srgbClr val="24283B"/>
          </a:solidFill>
          <a:ln/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2377440"/>
            <a:ext cx="64008" cy="1051560"/>
          </a:xfrm>
          <a:prstGeom prst="rect">
            <a:avLst/>
          </a:prstGeom>
          <a:solidFill>
            <a:srgbClr val="FF9E64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4231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9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패턴 B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011680" y="242316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구조화된 지시서 작성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14400" y="27889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"해줘" 대신 Phase별 순서, 이슈 번호, 순차/병렬 구분, 브랜치명까지 마크다운으로 작성해서 전달.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3657600"/>
            <a:ext cx="7863840" cy="1051560"/>
          </a:xfrm>
          <a:prstGeom prst="rect">
            <a:avLst/>
          </a:prstGeom>
          <a:solidFill>
            <a:srgbClr val="24283B"/>
          </a:solidFill>
          <a:ln/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" y="3657600"/>
            <a:ext cx="64008" cy="1051560"/>
          </a:xfrm>
          <a:prstGeom prst="rect">
            <a:avLst/>
          </a:prstGeom>
          <a:solidFill>
            <a:srgbClr val="9ECE6A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37033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EC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패턴 C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011680" y="370332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에이전트 팀 운영 + Worktree 병렬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14400" y="40690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역할별 전문 에이전트를 팀처럼 구성. Git Worktree로 독립 브랜치 동시 작업 → code-reviewer가 리뷰 → 머지.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~6시간 개발 타임라인 (1/2)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벽시계 ~21시간 중 사람 실제 투입 약 6시간 (메시지 간격 5분 기준 분석)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737360" y="1188720"/>
            <a:ext cx="0" cy="3657600"/>
          </a:xfrm>
          <a:prstGeom prst="line">
            <a:avLst/>
          </a:prstGeom>
          <a:noFill/>
          <a:ln w="25400">
            <a:solidFill>
              <a:srgbClr val="3B426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27632" y="1261872"/>
            <a:ext cx="201168" cy="201168"/>
          </a:xfrm>
          <a:prstGeom prst="ellipse">
            <a:avLst/>
          </a:prstGeom>
          <a:solidFill>
            <a:srgbClr val="BB9AF7"/>
          </a:solidFill>
          <a:ln/>
        </p:spPr>
      </p:sp>
      <p:sp>
        <p:nvSpPr>
          <p:cNvPr id="6" name="Text 4"/>
          <p:cNvSpPr/>
          <p:nvPr/>
        </p:nvSpPr>
        <p:spPr>
          <a:xfrm>
            <a:off x="91440" y="118872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65F8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3/13 11:36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103120" y="118872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 문장으로 프로젝트 시작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394960" y="11887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"국제 정세 대시보드를 만들고 싶네요"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627632" y="1719072"/>
            <a:ext cx="201168" cy="201168"/>
          </a:xfrm>
          <a:prstGeom prst="ellipse">
            <a:avLst/>
          </a:prstGeom>
          <a:solidFill>
            <a:srgbClr val="7DCFFF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" y="164592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65F8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3/13 11:45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103120" y="164592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frontend-design 에이전트로 UI 프로토타입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394960" y="16459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프로토타입 생성 → 시각적 피드백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627632" y="2176272"/>
            <a:ext cx="201168" cy="201168"/>
          </a:xfrm>
          <a:prstGeom prst="ellipse">
            <a:avLst/>
          </a:prstGeom>
          <a:solidFill>
            <a:srgbClr val="7AA2F7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" y="210312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65F8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3/13 12:21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103120" y="210312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 + 아키텍처 결정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394960" y="21031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TDD, Git-Flow, Tidy First, 에이전트 목록 정의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627632" y="2633472"/>
            <a:ext cx="201168" cy="201168"/>
          </a:xfrm>
          <a:prstGeom prst="ellipse">
            <a:avLst/>
          </a:prstGeom>
          <a:solidFill>
            <a:srgbClr val="9ECE6A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" y="256032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65F8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3/13 12:33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103120" y="256032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code-architect가 M1 이슈 자동 생성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394960" y="25603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#3~#10: Prisma, 뉴스, 시장, 선박, AI 분석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627632" y="3090672"/>
            <a:ext cx="201168" cy="201168"/>
          </a:xfrm>
          <a:prstGeom prst="ellipse">
            <a:avLst/>
          </a:prstGeom>
          <a:solidFill>
            <a:srgbClr val="9ECE6A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" y="301752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65F8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3/13 13:14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103120" y="301752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3개 에이전트 Worktree 병렬 개발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394960" y="30175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뉴스+시장+선박 수집기 동시 구현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1627632" y="3547872"/>
            <a:ext cx="201168" cy="201168"/>
          </a:xfrm>
          <a:prstGeom prst="ellipse">
            <a:avLst/>
          </a:prstGeom>
          <a:solidFill>
            <a:srgbClr val="F7768E"/>
          </a:solidFill>
          <a:ln/>
        </p:spPr>
      </p:sp>
      <p:sp>
        <p:nvSpPr>
          <p:cNvPr id="26" name="Text 24"/>
          <p:cNvSpPr/>
          <p:nvPr/>
        </p:nvSpPr>
        <p:spPr>
          <a:xfrm>
            <a:off x="91440" y="347472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65F8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3/13 13:52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2103120" y="347472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code-reviewer PR 자동 리뷰 루프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394960" y="34747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#17,#19,#20,#21 순차 리뷰 → 피드백 → 머지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1627632" y="4005072"/>
            <a:ext cx="201168" cy="201168"/>
          </a:xfrm>
          <a:prstGeom prst="ellipse">
            <a:avLst/>
          </a:prstGeom>
          <a:solidFill>
            <a:srgbClr val="73DACA"/>
          </a:solidFill>
          <a:ln/>
        </p:spPr>
      </p:sp>
      <p:sp>
        <p:nvSpPr>
          <p:cNvPr id="30" name="Text 28"/>
          <p:cNvSpPr/>
          <p:nvPr/>
        </p:nvSpPr>
        <p:spPr>
          <a:xfrm>
            <a:off x="91440" y="393192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65F8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3/13 21:43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2103120" y="393192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 프론트엔드 — 구조화된 지시서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394960" y="39319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"Implement the following plan" + React Query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1627632" y="4462272"/>
            <a:ext cx="201168" cy="201168"/>
          </a:xfrm>
          <a:prstGeom prst="ellipse">
            <a:avLst/>
          </a:prstGeom>
          <a:solidFill>
            <a:srgbClr val="BB9AF7"/>
          </a:solidFill>
          <a:ln/>
        </p:spPr>
      </p:sp>
      <p:sp>
        <p:nvSpPr>
          <p:cNvPr id="34" name="Text 32"/>
          <p:cNvSpPr/>
          <p:nvPr/>
        </p:nvSpPr>
        <p:spPr>
          <a:xfrm>
            <a:off x="91440" y="438912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65F8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3/13 22:01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2103120" y="438912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두바이 공항 요구사항 추가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394960" y="43891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PRD 섹션 4.8 추가 → 이슈 #27~#34 생성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~6시간 개발 타임라인 (2/2)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737360" y="914400"/>
            <a:ext cx="0" cy="3931920"/>
          </a:xfrm>
          <a:prstGeom prst="line">
            <a:avLst/>
          </a:prstGeom>
          <a:noFill/>
          <a:ln w="25400">
            <a:solidFill>
              <a:srgbClr val="3B426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27632" y="987552"/>
            <a:ext cx="201168" cy="201168"/>
          </a:xfrm>
          <a:prstGeom prst="ellipse">
            <a:avLst/>
          </a:prstGeom>
          <a:solidFill>
            <a:srgbClr val="73DACA"/>
          </a:solidFill>
          <a:ln/>
        </p:spPr>
      </p:sp>
      <p:sp>
        <p:nvSpPr>
          <p:cNvPr id="5" name="Text 3"/>
          <p:cNvSpPr/>
          <p:nvPr/>
        </p:nvSpPr>
        <p:spPr>
          <a:xfrm>
            <a:off x="91440" y="91440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65F8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3/13 23:31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103120" y="91440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 공항 배치 — 3개 에이전트 병렬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394960" y="9144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순차/병렬 지시. 5분 만에 3개 수집기 완료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627632" y="1472184"/>
            <a:ext cx="201168" cy="201168"/>
          </a:xfrm>
          <a:prstGeom prst="ellipse">
            <a:avLst/>
          </a:prstGeom>
          <a:solidFill>
            <a:srgbClr val="F7768E"/>
          </a:solidFill>
          <a:ln/>
        </p:spPr>
      </p:sp>
      <p:sp>
        <p:nvSpPr>
          <p:cNvPr id="9" name="Text 7"/>
          <p:cNvSpPr/>
          <p:nvPr/>
        </p:nvSpPr>
        <p:spPr>
          <a:xfrm>
            <a:off x="91440" y="139903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65F8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3/14 00:04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103120" y="139903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트러블슈팅 — 번역/인증/키 변경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394960" y="139903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쿼터, OpenSky OAuth2, AIS 키 갱신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627632" y="1956816"/>
            <a:ext cx="201168" cy="201168"/>
          </a:xfrm>
          <a:prstGeom prst="ellipse">
            <a:avLst/>
          </a:prstGeom>
          <a:solidFill>
            <a:srgbClr val="9ECE6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" y="188366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65F8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3/14 03:16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103120" y="188366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5개 에이전트 대규모 UI 개발 (M4-5)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394960" y="1883664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NewsFeed, Airport, Issue, TopBar, Map 병렬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627632" y="2441448"/>
            <a:ext cx="201168" cy="201168"/>
          </a:xfrm>
          <a:prstGeom prst="ellipse">
            <a:avLst/>
          </a:prstGeom>
          <a:solidFill>
            <a:srgbClr val="7AA2F7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" y="236829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65F8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3/14 06:53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103120" y="236829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i18n 다국어 (KO/EN/JA) 적용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394960" y="2368296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이슈 #60 — feature-dev 에이전트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627632" y="2926080"/>
            <a:ext cx="201168" cy="201168"/>
          </a:xfrm>
          <a:prstGeom prst="ellipse">
            <a:avLst/>
          </a:prstGeom>
          <a:solidFill>
            <a:srgbClr val="BB9AF7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" y="285292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65F8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3/14 07:12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2103120" y="285292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Tokyo Night 테마 + 태블릿 UI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394960" y="285292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"Tokyo Night 풍으로" → 20개 파일 CSS 교체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627632" y="3410712"/>
            <a:ext cx="201168" cy="201168"/>
          </a:xfrm>
          <a:prstGeom prst="ellipse">
            <a:avLst/>
          </a:prstGeom>
          <a:solidFill>
            <a:srgbClr val="F7768E"/>
          </a:solidFill>
          <a:ln/>
        </p:spPr>
      </p:sp>
      <p:sp>
        <p:nvSpPr>
          <p:cNvPr id="25" name="Text 23"/>
          <p:cNvSpPr/>
          <p:nvPr/>
        </p:nvSpPr>
        <p:spPr>
          <a:xfrm>
            <a:off x="91440" y="333756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65F8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3/14 07:35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2103120" y="333756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vs UPDATE 핵심 버그 발견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394960" y="33375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AI가 놓친 로직 오류를 사람이 DB 확인으로 발견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1627632" y="3895344"/>
            <a:ext cx="201168" cy="201168"/>
          </a:xfrm>
          <a:prstGeom prst="ellipse">
            <a:avLst/>
          </a:prstGeom>
          <a:solidFill>
            <a:srgbClr val="FF9E64"/>
          </a:solidFill>
          <a:ln/>
        </p:spPr>
      </p:sp>
      <p:sp>
        <p:nvSpPr>
          <p:cNvPr id="29" name="Text 27"/>
          <p:cNvSpPr/>
          <p:nvPr/>
        </p:nvSpPr>
        <p:spPr>
          <a:xfrm>
            <a:off x="91440" y="382219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65F8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3/14 07:39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2103120" y="382219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픽셀 단위 디자인 피드백 연속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394960" y="382219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높이, 글꼴, 색상, 레이아웃 미세 조정 반복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1627632" y="4379976"/>
            <a:ext cx="201168" cy="201168"/>
          </a:xfrm>
          <a:prstGeom prst="ellipse">
            <a:avLst/>
          </a:prstGeom>
          <a:solidFill>
            <a:srgbClr val="9ECE6A"/>
          </a:solidFill>
          <a:ln/>
        </p:spPr>
      </p:sp>
      <p:sp>
        <p:nvSpPr>
          <p:cNvPr id="33" name="Text 31"/>
          <p:cNvSpPr/>
          <p:nvPr/>
        </p:nvSpPr>
        <p:spPr>
          <a:xfrm>
            <a:off x="91440" y="430682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65F8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3/14 08:50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2103120" y="430682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문서 현행화 + 프로젝트 완료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394960" y="4306824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PRD, CLAUDE.md, README 모두 최신 상태로 갱신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914400"/>
            <a:ext cx="5486400" cy="5486400"/>
          </a:xfrm>
          <a:prstGeom prst="ellipse">
            <a:avLst/>
          </a:prstGeom>
          <a:solidFill>
            <a:srgbClr val="7AA2F7">
              <a:alpha val="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7DC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교훈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AA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554480" y="100584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문제를 명확히 정의하라. AI는 잘 정의된 문제를 가장 잘 해결한다.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664208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AA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554480" y="1664208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업무를 명확하게 지시하라. "해줘"보다 "이 순서로 해줘"가 10배 효과적이다.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322576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AA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554480" y="2322576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전문가(에이전트)에게 맡겨라. 서버, 프론트, 디자이너를 팀처럼 운영하라.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2980944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AA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554480" y="2980944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CLAUDE.md로 AI의 작업 규칙을 정하라. 일관된 품질의 핵심이다.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3639312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AA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1554480" y="3639312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이슈로 작업을 관리하라. 이슈가 곧 AI의 작업 지시서다.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429768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AA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1554480" y="429768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AI가 '완료'라고 해도 반드시 눈으로 확인하라.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0" y="457200"/>
            <a:ext cx="4572000" cy="4572000"/>
          </a:xfrm>
          <a:prstGeom prst="ellipse">
            <a:avLst/>
          </a:prstGeom>
          <a:solidFill>
            <a:srgbClr val="BB9AF7">
              <a:alpha val="7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822960"/>
            <a:ext cx="7315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32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문제를 정의하고</a:t>
            </a:r>
            <a:endParaRPr lang="en-US" sz="32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32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명확하게 지시하고</a:t>
            </a:r>
            <a:endParaRPr lang="en-US" sz="32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32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전문가에게 맡겨라.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914400" y="3017520"/>
            <a:ext cx="2286000" cy="1188720"/>
          </a:xfrm>
          <a:prstGeom prst="rect">
            <a:avLst/>
          </a:prstGeom>
          <a:solidFill>
            <a:srgbClr val="24283B"/>
          </a:solidFill>
          <a:ln/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3017520"/>
            <a:ext cx="54864" cy="1188720"/>
          </a:xfrm>
          <a:prstGeom prst="rect">
            <a:avLst/>
          </a:prstGeom>
          <a:solidFill>
            <a:srgbClr val="BB9AF7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30632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B9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 정의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" y="34747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해결할 문제를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명확히 말한다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566160" y="3017520"/>
            <a:ext cx="2286000" cy="1188720"/>
          </a:xfrm>
          <a:prstGeom prst="rect">
            <a:avLst/>
          </a:prstGeom>
          <a:solidFill>
            <a:srgbClr val="24283B"/>
          </a:solidFill>
          <a:ln/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566160" y="3017520"/>
            <a:ext cx="54864" cy="1188720"/>
          </a:xfrm>
          <a:prstGeom prst="rect">
            <a:avLst/>
          </a:prstGeom>
          <a:solidFill>
            <a:srgbClr val="7AA2F7"/>
          </a:solidFill>
          <a:ln/>
        </p:spPr>
      </p:sp>
      <p:sp>
        <p:nvSpPr>
          <p:cNvPr id="10" name="Text 8"/>
          <p:cNvSpPr/>
          <p:nvPr/>
        </p:nvSpPr>
        <p:spPr>
          <a:xfrm>
            <a:off x="3703320" y="30632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AA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명확한 지시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703320" y="34747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Phase, 이슈, 순서를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구조화해서 전달한다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3017520"/>
            <a:ext cx="2286000" cy="1188720"/>
          </a:xfrm>
          <a:prstGeom prst="rect">
            <a:avLst/>
          </a:prstGeom>
          <a:solidFill>
            <a:srgbClr val="24283B"/>
          </a:solidFill>
          <a:ln/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17920" y="3017520"/>
            <a:ext cx="54864" cy="1188720"/>
          </a:xfrm>
          <a:prstGeom prst="rect">
            <a:avLst/>
          </a:prstGeom>
          <a:solidFill>
            <a:srgbClr val="9ECE6A"/>
          </a:solidFill>
          <a:ln/>
        </p:spPr>
      </p:sp>
      <p:sp>
        <p:nvSpPr>
          <p:cNvPr id="14" name="Text 12"/>
          <p:cNvSpPr/>
          <p:nvPr/>
        </p:nvSpPr>
        <p:spPr>
          <a:xfrm>
            <a:off x="6355080" y="30632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EC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전문가에게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355080" y="34747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서버, 프론트, 디자이너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에이전트 팀에게 맡긴다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14400" y="4114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Affairs Dashboard — 2026.03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바이브 코딩 가이드 — 비개발자가 AI 에이전트 팀으로 대시보드를 만든 ~6시간</dc:title>
  <dc:subject>PptxGenJS Presentation</dc:subject>
  <dc:creator>주난 (smallmiro)</dc:creator>
  <cp:lastModifiedBy>주난 (smallmiro)</cp:lastModifiedBy>
  <cp:revision>1</cp:revision>
  <dcterms:created xsi:type="dcterms:W3CDTF">2026-03-14T09:41:08Z</dcterms:created>
  <dcterms:modified xsi:type="dcterms:W3CDTF">2026-03-14T09:41:08Z</dcterms:modified>
</cp:coreProperties>
</file>